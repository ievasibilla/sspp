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oval">
            <a:avLst/>
          </a:prstGeom>
          <a:solidFill>
            <a:srgbClr val="2D0E5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2560320"/>
            <a:ext cx="3200400" cy="3200400"/>
          </a:xfrm>
          <a:prstGeom prst="oval">
            <a:avLst/>
          </a:prstGeom>
          <a:solidFill>
            <a:srgbClr val="2D0E50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1828800" cy="1828800"/>
          </a:xfrm>
          <a:prstGeom prst="oval">
            <a:avLst/>
          </a:prstGeom>
          <a:solidFill>
            <a:srgbClr val="E8629A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48640"/>
            <a:ext cx="347472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48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•  SEED ROUND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0515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Sweet AI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Revolutionizing Celebrations,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 Cake at a Time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429000"/>
            <a:ext cx="1645920" cy="36576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 cake design platform  •  B2C &amp; B2B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53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cakes: broken from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to finish.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840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03120"/>
            <a:ext cx="64008" cy="1170432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Generic results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5420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Bakeries guess at customer vision. Most cakes look nothing like what was requested.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03120"/>
            <a:ext cx="3840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03120"/>
            <a:ext cx="64008" cy="1170432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032" y="2194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Slow &amp; opaque process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28032" y="254203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lead time 5–7 days with zero visibility into design progress.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3840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64008" cy="1170432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3520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Inaccessible pricing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8679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Bespoke cakes cost $150–$400+, putting premium quality out of reach for most.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429000"/>
            <a:ext cx="384048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429000"/>
            <a:ext cx="64008" cy="1170432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20" name="Text 18"/>
          <p:cNvSpPr/>
          <p:nvPr/>
        </p:nvSpPr>
        <p:spPr>
          <a:xfrm>
            <a:off x="4828032" y="3520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Zero discovery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86791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way to browse real custom designs before committing to an order.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03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designs the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perfect cake — in seconds.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describe their occasion, style, and dietary needs.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AI renders a photorealistic custom cake and routes the order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vetted local baker — in real-time.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3200400"/>
            <a:ext cx="2606040" cy="64008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9436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model trained on 200K+ cake designs. Renders unique cakes from text prompts.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3200400"/>
            <a:ext cx="2606040" cy="64008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visualization. Customers iterate until the cake is exactly right.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32004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200400"/>
            <a:ext cx="2606040" cy="64008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3337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62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Fulfilment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069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baker network handles production, quality check &amp; tracked delivery.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53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Slice of the Growing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Celebration Economy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64008" cy="12801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$37.7B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gifts market by 2027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057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057400"/>
            <a:ext cx="64008" cy="12801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$8.9B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56432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cake &amp; bakery segment (2025)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057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057400"/>
            <a:ext cx="64008" cy="12801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94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91072" y="28072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Millennials prefer experiences over products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91440" cy="9144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54787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celebration economy growing 7.2% CAGR through 2027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59352"/>
            <a:ext cx="91440" cy="9144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89534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of Gen Z willing to pay a premium for personalized products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306824"/>
            <a:ext cx="91440" cy="9144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4281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Bakeries remain offline, fragmented &amp; tech-averse — creating a clear platform gap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03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streams.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margin-accretive.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51760" cy="2743200"/>
          </a:xfrm>
          <a:prstGeom prst="rect">
            <a:avLst/>
          </a:prstGeom>
          <a:solidFill>
            <a:srgbClr val="2D1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57400"/>
            <a:ext cx="2651760" cy="54864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762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take rate on every cake sold through the platform (B2C &amp; B2B)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057400"/>
            <a:ext cx="2651760" cy="2743200"/>
          </a:xfrm>
          <a:prstGeom prst="rect">
            <a:avLst/>
          </a:prstGeom>
          <a:solidFill>
            <a:srgbClr val="2D1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057400"/>
            <a:ext cx="2651760" cy="54864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762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$29/mo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42900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SaaS fee for bakers to list, manage orders, and access AI design tools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057400"/>
            <a:ext cx="2651760" cy="2743200"/>
          </a:xfrm>
          <a:prstGeom prst="rect">
            <a:avLst/>
          </a:prstGeom>
          <a:solidFill>
            <a:srgbClr val="2D1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057400"/>
            <a:ext cx="2651760" cy="54864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762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API+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6364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3493008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API + branded design tool for hotel chains, event companies &amp; corporates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53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validation. Real demand.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64008" cy="12801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2,400+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21792" y="2532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waitlist sign-ups (8 weeks)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83080"/>
            <a:ext cx="64008" cy="12801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2" name="Text 10"/>
          <p:cNvSpPr/>
          <p:nvPr/>
        </p:nvSpPr>
        <p:spPr>
          <a:xfrm>
            <a:off x="3456432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56432" y="2532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bakers onboarded across 6 cities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783080"/>
            <a:ext cx="64008" cy="12801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19202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$28K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91072" y="25328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in closed beta (3 months)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8229600" cy="36576"/>
          </a:xfrm>
          <a:prstGeom prst="rect">
            <a:avLst/>
          </a:prstGeom>
          <a:solidFill>
            <a:srgbClr val="E0D0E8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" y="3264408"/>
            <a:ext cx="182880" cy="18288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20" name="Text 18"/>
          <p:cNvSpPr/>
          <p:nvPr/>
        </p:nvSpPr>
        <p:spPr>
          <a:xfrm>
            <a:off x="-27432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-27432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AI model validation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32888" y="3264408"/>
            <a:ext cx="182880" cy="18288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23" name="Text 21"/>
          <p:cNvSpPr/>
          <p:nvPr/>
        </p:nvSpPr>
        <p:spPr>
          <a:xfrm>
            <a:off x="187452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 — 12 bakers, 3 cities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81728" y="3264408"/>
            <a:ext cx="182880" cy="18288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beta — $28K GMV, 4.9★ avg rating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30568" y="3264408"/>
            <a:ext cx="182880" cy="182880"/>
          </a:xfrm>
          <a:prstGeom prst="oval">
            <a:avLst/>
          </a:prstGeom>
          <a:solidFill>
            <a:srgbClr val="E8629A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547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858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 → nationwide rollout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03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occupy a category no one else has built.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11480" y="1645920"/>
            <a:ext cx="2011680" cy="438912"/>
          </a:xfrm>
          <a:prstGeom prst="rect">
            <a:avLst/>
          </a:prstGeom>
          <a:solidFill>
            <a:srgbClr val="2D104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6459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1645920"/>
            <a:ext cx="1417320" cy="438912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645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1645920"/>
            <a:ext cx="1417320" cy="438912"/>
          </a:xfrm>
          <a:prstGeom prst="rect">
            <a:avLst/>
          </a:prstGeom>
          <a:solidFill>
            <a:srgbClr val="2D1040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645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Bakeries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57800" y="1645920"/>
            <a:ext cx="1417320" cy="438912"/>
          </a:xfrm>
          <a:prstGeom prst="rect">
            <a:avLst/>
          </a:prstGeom>
          <a:solidFill>
            <a:srgbClr val="2D1040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1645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Goldbelly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645920"/>
            <a:ext cx="1417320" cy="438912"/>
          </a:xfrm>
          <a:prstGeom prst="rect">
            <a:avLst/>
          </a:prstGeom>
          <a:solidFill>
            <a:srgbClr val="2D1040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164592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Marketplaces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103120"/>
            <a:ext cx="201168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Design Preview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2103120"/>
            <a:ext cx="1417320" cy="457200"/>
          </a:xfrm>
          <a:prstGeom prst="rect">
            <a:avLst/>
          </a:prstGeom>
          <a:solidFill>
            <a:srgbClr val="3D1555"/>
          </a:solidFill>
          <a:ln/>
        </p:spPr>
      </p:sp>
      <p:sp>
        <p:nvSpPr>
          <p:cNvPr id="19" name="Text 17"/>
          <p:cNvSpPr/>
          <p:nvPr/>
        </p:nvSpPr>
        <p:spPr>
          <a:xfrm>
            <a:off x="242316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2103120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57800" y="2103120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2103120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2578608"/>
            <a:ext cx="201168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2578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Customisation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23160" y="2578608"/>
            <a:ext cx="1417320" cy="457200"/>
          </a:xfrm>
          <a:prstGeom prst="rect">
            <a:avLst/>
          </a:prstGeom>
          <a:solidFill>
            <a:srgbClr val="3D1555"/>
          </a:solidFill>
          <a:ln/>
        </p:spPr>
      </p:sp>
      <p:sp>
        <p:nvSpPr>
          <p:cNvPr id="29" name="Text 27"/>
          <p:cNvSpPr/>
          <p:nvPr/>
        </p:nvSpPr>
        <p:spPr>
          <a:xfrm>
            <a:off x="2423160" y="2578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840480" y="2578608"/>
            <a:ext cx="141732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2578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57800" y="2578608"/>
            <a:ext cx="141732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33" name="Text 31"/>
          <p:cNvSpPr/>
          <p:nvPr/>
        </p:nvSpPr>
        <p:spPr>
          <a:xfrm>
            <a:off x="5257800" y="2578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75120" y="2578608"/>
            <a:ext cx="141732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0" y="25786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3054096"/>
            <a:ext cx="201168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37" name="Text 35"/>
          <p:cNvSpPr/>
          <p:nvPr/>
        </p:nvSpPr>
        <p:spPr>
          <a:xfrm>
            <a:off x="411480" y="30540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Baker Network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23160" y="3054096"/>
            <a:ext cx="1417320" cy="457200"/>
          </a:xfrm>
          <a:prstGeom prst="rect">
            <a:avLst/>
          </a:prstGeom>
          <a:solidFill>
            <a:srgbClr val="3D1555"/>
          </a:solidFill>
          <a:ln/>
        </p:spPr>
      </p:sp>
      <p:sp>
        <p:nvSpPr>
          <p:cNvPr id="39" name="Text 37"/>
          <p:cNvSpPr/>
          <p:nvPr/>
        </p:nvSpPr>
        <p:spPr>
          <a:xfrm>
            <a:off x="2423160" y="3054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0" y="3054096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41" name="Text 39"/>
          <p:cNvSpPr/>
          <p:nvPr/>
        </p:nvSpPr>
        <p:spPr>
          <a:xfrm>
            <a:off x="3840480" y="3054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257800" y="3054096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43" name="Text 41"/>
          <p:cNvSpPr/>
          <p:nvPr/>
        </p:nvSpPr>
        <p:spPr>
          <a:xfrm>
            <a:off x="5257800" y="3054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3054096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305409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11480" y="3529584"/>
            <a:ext cx="201168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352958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23160" y="3529584"/>
            <a:ext cx="1417320" cy="457200"/>
          </a:xfrm>
          <a:prstGeom prst="rect">
            <a:avLst/>
          </a:prstGeom>
          <a:solidFill>
            <a:srgbClr val="3D1555"/>
          </a:solidFill>
          <a:ln/>
        </p:spPr>
      </p:sp>
      <p:sp>
        <p:nvSpPr>
          <p:cNvPr id="49" name="Text 47"/>
          <p:cNvSpPr/>
          <p:nvPr/>
        </p:nvSpPr>
        <p:spPr>
          <a:xfrm>
            <a:off x="2423160" y="35295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840480" y="3529584"/>
            <a:ext cx="141732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51" name="Text 49"/>
          <p:cNvSpPr/>
          <p:nvPr/>
        </p:nvSpPr>
        <p:spPr>
          <a:xfrm>
            <a:off x="3840480" y="35295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257800" y="3529584"/>
            <a:ext cx="141732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53" name="Text 51"/>
          <p:cNvSpPr/>
          <p:nvPr/>
        </p:nvSpPr>
        <p:spPr>
          <a:xfrm>
            <a:off x="5257800" y="35295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E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675120" y="3529584"/>
            <a:ext cx="1417320" cy="457200"/>
          </a:xfrm>
          <a:prstGeom prst="rect">
            <a:avLst/>
          </a:prstGeom>
          <a:solidFill>
            <a:srgbClr val="170530"/>
          </a:solidFill>
          <a:ln/>
        </p:spPr>
      </p:sp>
      <p:sp>
        <p:nvSpPr>
          <p:cNvPr id="55" name="Text 53"/>
          <p:cNvSpPr/>
          <p:nvPr/>
        </p:nvSpPr>
        <p:spPr>
          <a:xfrm>
            <a:off x="6675120" y="35295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11480" y="4005072"/>
            <a:ext cx="201168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" y="4005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/ White-label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423160" y="4005072"/>
            <a:ext cx="1417320" cy="457200"/>
          </a:xfrm>
          <a:prstGeom prst="rect">
            <a:avLst/>
          </a:prstGeom>
          <a:solidFill>
            <a:srgbClr val="3D1555"/>
          </a:solidFill>
          <a:ln/>
        </p:spPr>
      </p:sp>
      <p:sp>
        <p:nvSpPr>
          <p:cNvPr id="59" name="Text 57"/>
          <p:cNvSpPr/>
          <p:nvPr/>
        </p:nvSpPr>
        <p:spPr>
          <a:xfrm>
            <a:off x="2423160" y="40050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840480" y="4005072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61" name="Text 59"/>
          <p:cNvSpPr/>
          <p:nvPr/>
        </p:nvSpPr>
        <p:spPr>
          <a:xfrm>
            <a:off x="3840480" y="40050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257800" y="4005072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63" name="Text 61"/>
          <p:cNvSpPr/>
          <p:nvPr/>
        </p:nvSpPr>
        <p:spPr>
          <a:xfrm>
            <a:off x="5257800" y="40050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75120" y="4005072"/>
            <a:ext cx="1417320" cy="457200"/>
          </a:xfrm>
          <a:prstGeom prst="rect">
            <a:avLst/>
          </a:prstGeom>
          <a:solidFill>
            <a:srgbClr val="1E0838"/>
          </a:solidFill>
          <a:ln/>
        </p:spPr>
      </p:sp>
      <p:sp>
        <p:nvSpPr>
          <p:cNvPr id="65" name="Text 63"/>
          <p:cNvSpPr/>
          <p:nvPr/>
        </p:nvSpPr>
        <p:spPr>
          <a:xfrm>
            <a:off x="6675120" y="40050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53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E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team to own this category.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777240" cy="777240"/>
          </a:xfrm>
          <a:prstGeom prst="oval">
            <a:avLst/>
          </a:prstGeom>
          <a:solidFill>
            <a:srgbClr val="1A05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64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82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Chen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011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22677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Ex-DoorDash marketplace lead. 8 yrs scaling food-tech platforms. Stanford MBA.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64208"/>
            <a:ext cx="777240" cy="777240"/>
          </a:xfrm>
          <a:prstGeom prst="oval">
            <a:avLst/>
          </a:prstGeom>
          <a:solidFill>
            <a:srgbClr val="1A053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6642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715000" y="1682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15000" y="20116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226771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AI/ML at Pinterest. Built computer vision models used by 10M+ users. MIT CS.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27248"/>
            <a:ext cx="777240" cy="777240"/>
          </a:xfrm>
          <a:prstGeom prst="oval">
            <a:avLst/>
          </a:prstGeom>
          <a:solidFill>
            <a:srgbClr val="1A053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27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1455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Reyes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474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Partnerships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17320" y="3730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 in specialty food industry. Grew artisan baker co-op to $12M revenue.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27248"/>
            <a:ext cx="777240" cy="777240"/>
          </a:xfrm>
          <a:prstGeom prst="oval">
            <a:avLst/>
          </a:prstGeom>
          <a:solidFill>
            <a:srgbClr val="1A053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2724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715000" y="314553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Liu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347472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AI Engineer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373075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5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Computer Vision, CMU. Prev. Google Brain. Expert in generative image models.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203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"/>
            <a:ext cx="228600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PROJECTIONS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to $3M ARR in 18 months.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371600" y="3429000"/>
            <a:ext cx="1280160" cy="91440"/>
          </a:xfrm>
          <a:prstGeom prst="rect">
            <a:avLst/>
          </a:prstGeom>
          <a:solidFill>
            <a:srgbClr val="7A5C6E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044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$28K GMV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36393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3307080"/>
            <a:ext cx="1280160" cy="21336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29230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 ARR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36393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(Proj.)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2788920"/>
            <a:ext cx="1280160" cy="73152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4048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 ARR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36393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1691640"/>
            <a:ext cx="1280160" cy="182880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13075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$3.0M ARR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36393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B7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(Proj.)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97280" y="3520440"/>
            <a:ext cx="6949440" cy="36576"/>
          </a:xfrm>
          <a:prstGeom prst="rect">
            <a:avLst/>
          </a:prstGeom>
          <a:solidFill>
            <a:srgbClr val="4A306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(at scale):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5537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AOV: $85  •  Gross Margin: 62%  •  CAC: $18  •  LTV: $340  •  LTV:CAC = 18.9×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projections are illustrative estimates.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oval">
            <a:avLst/>
          </a:prstGeom>
          <a:solidFill>
            <a:srgbClr val="2D0E50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oval">
            <a:avLst/>
          </a:prstGeom>
          <a:solidFill>
            <a:srgbClr val="E8629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629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57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629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57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 Seed Round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B8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$600K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651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 model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62656"/>
            <a:ext cx="2011680" cy="45720"/>
          </a:xfrm>
          <a:prstGeom prst="rect">
            <a:avLst/>
          </a:prstGeom>
          <a:solidFill>
            <a:srgbClr val="E8629A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729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1729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$450K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3172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 network growth (20 new cities)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483864"/>
            <a:ext cx="1508760" cy="45720"/>
          </a:xfrm>
          <a:prstGeom prst="rect">
            <a:avLst/>
          </a:prstGeom>
          <a:solidFill>
            <a:srgbClr val="E8629A">
              <a:alpha val="6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63040" y="36941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6941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consumer acquisition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005072"/>
            <a:ext cx="1005840" cy="45720"/>
          </a:xfrm>
          <a:prstGeom prst="rect">
            <a:avLst/>
          </a:prstGeom>
          <a:solidFill>
            <a:srgbClr val="E8629A">
              <a:alpha val="6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21538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63040" y="421538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2153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legal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526280"/>
            <a:ext cx="502920" cy="45720"/>
          </a:xfrm>
          <a:prstGeom prst="rect">
            <a:avLst/>
          </a:prstGeom>
          <a:solidFill>
            <a:srgbClr val="E8629A">
              <a:alpha val="6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target: $3M ARR  •  Series A ready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Sweet AI — Seed Pitch Deck</dc:title>
  <dc:subject>PptxGenJS Presentation</dc:subject>
  <dc:creator>Sweet AI</dc:creator>
  <cp:lastModifiedBy>Sweet AI</cp:lastModifiedBy>
  <cp:revision>1</cp:revision>
  <dcterms:created xsi:type="dcterms:W3CDTF">2026-03-22T19:56:18Z</dcterms:created>
  <dcterms:modified xsi:type="dcterms:W3CDTF">2026-03-22T19:56:18Z</dcterms:modified>
</cp:coreProperties>
</file>